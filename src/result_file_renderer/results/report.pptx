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6858000" cy="9906000" type="A4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Тарасова Елена Игоревна" initials="ТЕИ" lastIdx="8" clrIdx="0">
    <p:extLst>
      <p:ext uri="{19B8F6BF-5375-455C-9EA6-DF929625EA0E}">
        <p15:presenceInfo xmlns:p15="http://schemas.microsoft.com/office/powerpoint/2012/main" userId="S-1-5-21-794208664-1611328471-2956354742-786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5" d="100"/>
          <a:sy n="45" d="100"/>
        </p:scale>
        <p:origin x="1616" y="8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commentAuthors" Target="commentAuthors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4/chart" xmlns:ns5="http://schemas.microsoft.com/office/drawing/2017/03/chart" xmlns:ns6="http://schemas.openxmlformats.org/officeDocument/2006/relationships">
  <c:date1904 val="0"/>
  <c:lang val="ru-RU"/>
  <c:roundedCorners val="0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0.28772922134733159"/>
          <c:y val="0.10088085977382143"/>
          <c:w val="0.45729155730533683"/>
          <c:h val="0.70158236545786701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Среднее значение по итогам опроса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F0"/>
              </a:solidFill>
              <a:ln w="9525">
                <a:solidFill>
                  <a:srgbClr val="00B0F0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1. Стратегия и инновации</c:v>
                </c:pt>
                <c:pt idx="1">
                  <c:v>2. Управление проектами и процессами</c:v>
                </c:pt>
                <c:pt idx="2">
                  <c:v>3. Личная эффективность</c:v>
                </c:pt>
                <c:pt idx="3">
                  <c:v>4. Взаимодействие</c:v>
                </c:pt>
                <c:pt idx="4">
                  <c:v>5. Работа с командой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1.2750779123743243</c:v>
                </c:pt>
                <c:pt idx="1">
                  <c:v>1.377900103945715</c:v>
                </c:pt>
                <c:pt idx="2">
                  <c:v>1.4130296619344396</c:v>
                </c:pt>
                <c:pt idx="3">
                  <c:v>1.3990973512314977</c:v>
                </c:pt>
                <c:pt idx="4">
                  <c:v>1.2692485957176136</c:v>
                </c:pt>
              </c:numCache>
            </c:numRef>
          </c:val>
          <c:extLst>
            <c:ext uri="{C3380CC4-5D6E-409C-BE32-E72D297353CC}">
              <ns4:uniqueId val="{00000000-2E1D-42C5-AD8C-F16E53F5D4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Индивидуальное значение по шкале от 0 до 3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sz="1000" b="0" i="0" u="none" strike="noStrike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1. Стратегия и инновации</c:v>
                </c:pt>
                <c:pt idx="1">
                  <c:v>2. Управление проектами и процессами</c:v>
                </c:pt>
                <c:pt idx="2">
                  <c:v>3. Личная эффективность</c:v>
                </c:pt>
                <c:pt idx="3">
                  <c:v>4. Взаимодействие</c:v>
                </c:pt>
                <c:pt idx="4">
                  <c:v>5. Работа с командой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1.86</c:v>
                </c:pt>
                <c:pt idx="1">
                  <c:v>2.38</c:v>
                </c:pt>
                <c:pt idx="2">
                  <c:v>1.75</c:v>
                </c:pt>
                <c:pt idx="3">
                  <c:v>1.0</c:v>
                </c:pt>
                <c:pt idx="4">
                  <c:v>1.67</c:v>
                </c:pt>
              </c:numCache>
            </c:numRef>
          </c:val>
          <c:extLst>
            <c:ext uri="{C3380CC4-5D6E-409C-BE32-E72D297353CC}">
              <ns4:uniqueId val="{00000001-2E1D-42C5-AD8C-F16E53F5D471}"/>
            </c:ext>
          </c:extLst>
        </c:ser>
        <c:axId val="683308744"/>
        <c:axId val="683310712"/>
      </c:radarChart>
      <c:catAx>
        <c:axId val="683308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83310712"/>
        <c:crosses val="autoZero"/>
        <c:auto val="1"/>
        <c:lblAlgn val="ctr"/>
        <c:lblOffset val="100"/>
        <c:noMultiLvlLbl val="0"/>
      </c:catAx>
      <c:valAx>
        <c:axId val="683310712"/>
        <c:scaling>
          <c:orientation val="minMax"/>
          <c:max val="3.0"/>
          <c:min val="0.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crossAx val="683308744"/>
        <c:crosses val="autoZero"/>
        <c:crossBetween val="between"/>
        <c:majorUnit val="1.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uri="{56B9EC1D-385E-4148-901F-78D8002777C0}">
        <ns5:dataDisplayOptions16>
          <ns5:dispNaAsBlank val="1"/>
        </ns5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ns6:id="rId3">
    <c:autoUpdate val="0"/>
  </c:externalData>
</c:chartSpace>
</file>

<file path=ppt/charts/colors1.xml><?xml version="1.0" encoding="utf-8"?>
<ns0:colorStyle xmlns:a="http://schemas.openxmlformats.org/drawingml/2006/main" xmlns:ns0="http://schemas.microsoft.com/office/drawing/2012/chartStyle" meth="cycle" id="10">
  <a:schemeClr val="accent1"/>
  <a:schemeClr val="accent2"/>
  <a:schemeClr val="accent3"/>
  <a:schemeClr val="accent4"/>
  <a:schemeClr val="accent5"/>
  <a:schemeClr val="accent6"/>
  <ns0:variation/>
  <ns0:variation>
    <a:lumMod val="60000"/>
  </ns0:variation>
  <ns0:variation>
    <a:lumMod val="80000"/>
    <a:lumOff val="20000"/>
  </ns0:variation>
  <ns0:variation>
    <a:lumMod val="80000"/>
  </ns0:variation>
  <ns0:variation>
    <a:lumMod val="60000"/>
    <a:lumOff val="40000"/>
  </ns0:variation>
  <ns0:variation>
    <a:lumMod val="50000"/>
  </ns0:variation>
  <ns0:variation>
    <a:lumMod val="70000"/>
    <a:lumOff val="30000"/>
  </ns0:variation>
  <ns0:variation>
    <a:lumMod val="70000"/>
  </ns0:variation>
  <ns0:variation>
    <a:lumMod val="50000"/>
    <a:lumOff val="50000"/>
  </ns0:variation>
</ns0:colorStyle>
</file>

<file path=ppt/charts/style1.xml><?xml version="1.0" encoding="utf-8"?>
<ns0:chartStyle xmlns:a="http://schemas.openxmlformats.org/drawingml/2006/main" xmlns:ns0="http://schemas.microsoft.com/office/drawing/2012/chartStyle" id="317">
  <ns0:axisTitle>
    <ns0:lnRef idx="0"/>
    <ns0:fillRef idx="0"/>
    <ns0:effectRef idx="0"/>
    <ns0:fontRef idx="minor">
      <a:schemeClr val="tx1">
        <a:lumMod val="65000"/>
        <a:lumOff val="35000"/>
      </a:schemeClr>
    </ns0:fontRef>
    <ns0:defRPr sz="1330" kern="1200"/>
  </ns0:axisTitle>
  <ns0:categoryAxis>
    <ns0:lnRef idx="0"/>
    <ns0:fillRef idx="0"/>
    <ns0:effectRef idx="0"/>
    <ns0:fontRef idx="minor">
      <a:schemeClr val="tx1">
        <a:lumMod val="65000"/>
        <a:lumOff val="35000"/>
      </a:schemeClr>
    </ns0:fontRef>
    <ns0:spPr>
      <a:ln w="9525" cap="flat" cmpd="sng" algn="ctr">
        <a:solidFill>
          <a:schemeClr val="tx1">
            <a:lumMod val="15000"/>
            <a:lumOff val="85000"/>
          </a:schemeClr>
        </a:solidFill>
        <a:round/>
      </a:ln>
    </ns0:spPr>
    <ns0:defRPr sz="1197" kern="1200"/>
  </ns0:categoryAxis>
  <ns0:chartArea mods="allowNoFillOverride allowNoLineOverride">
    <ns0:lnRef idx="0"/>
    <ns0:fillRef idx="0"/>
    <ns0:effectRef idx="0"/>
    <ns0:fontRef idx="minor">
      <a:schemeClr val="tx1"/>
    </ns0:fontRef>
    <ns0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ns0:spPr>
    <ns0:defRPr sz="1330" kern="1200"/>
  </ns0:chartArea>
  <ns0:dataLabel>
    <ns0:lnRef idx="0"/>
    <ns0:fillRef idx="0"/>
    <ns0:effectRef idx="0"/>
    <ns0:fontRef idx="minor">
      <a:schemeClr val="tx1">
        <a:lumMod val="75000"/>
        <a:lumOff val="25000"/>
      </a:schemeClr>
    </ns0:fontRef>
    <ns0:defRPr sz="1197" kern="1200"/>
  </ns0:dataLabel>
  <ns0:dataLabelCallout>
    <ns0:lnRef idx="0"/>
    <ns0:fillRef idx="0"/>
    <ns0:effectRef idx="0"/>
    <ns0:fontRef idx="minor">
      <a:schemeClr val="dk1">
        <a:lumMod val="65000"/>
        <a:lumOff val="35000"/>
      </a:schemeClr>
    </ns0:fontRef>
    <ns0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ns0:spPr>
    <ns0:defRPr sz="1197" kern="1200"/>
    <ns0:bodyPr rot="0" spcFirstLastPara="1" vertOverflow="clip" horzOverflow="clip" vert="horz" wrap="square" lIns="36576" tIns="18288" rIns="36576" bIns="18288" anchor="ctr" anchorCtr="1">
      <a:spAutoFit/>
    </ns0:bodyPr>
  </ns0:dataLabelCallout>
  <ns0:dataPoint>
    <ns0:lnRef idx="0"/>
    <ns0:fillRef idx="1">
      <ns0:styleClr val="auto"/>
    </ns0:fillRef>
    <ns0:effectRef idx="0"/>
    <ns0:fontRef idx="minor">
      <a:schemeClr val="tx1"/>
    </ns0:fontRef>
  </ns0:dataPoint>
  <ns0:dataPoint3D>
    <ns0:lnRef idx="0"/>
    <ns0:fillRef idx="1">
      <ns0:styleClr val="auto"/>
    </ns0:fillRef>
    <ns0:effectRef idx="0"/>
    <ns0:fontRef idx="minor">
      <a:schemeClr val="tx1"/>
    </ns0:fontRef>
  </ns0:dataPoint3D>
  <ns0:dataPointLine>
    <ns0:lnRef idx="0">
      <ns0:styleClr val="auto"/>
    </ns0:lnRef>
    <ns0:fillRef idx="1"/>
    <ns0:effectRef idx="0"/>
    <ns0:fontRef idx="minor">
      <a:schemeClr val="tx1"/>
    </ns0:fontRef>
    <ns0:spPr>
      <a:ln w="28575" cap="rnd">
        <a:solidFill>
          <a:schemeClr val="phClr"/>
        </a:solidFill>
        <a:round/>
      </a:ln>
    </ns0:spPr>
  </ns0:dataPointLine>
  <ns0:dataPointMarker>
    <ns0:lnRef idx="0">
      <ns0:styleClr val="auto"/>
    </ns0:lnRef>
    <ns0:fillRef idx="1">
      <ns0:styleClr val="auto"/>
    </ns0:fillRef>
    <ns0:effectRef idx="0"/>
    <ns0:fontRef idx="minor">
      <a:schemeClr val="tx1"/>
    </ns0:fontRef>
    <ns0:spPr>
      <a:ln w="9525">
        <a:solidFill>
          <a:schemeClr val="phClr"/>
        </a:solidFill>
      </a:ln>
    </ns0:spPr>
  </ns0:dataPointMarker>
  <ns0:dataPointMarkerLayout symbol="circle" size="5"/>
  <ns0:dataPointWireframe>
    <ns0:lnRef idx="0">
      <ns0:styleClr val="auto"/>
    </ns0:lnRef>
    <ns0:fillRef idx="1"/>
    <ns0:effectRef idx="0"/>
    <ns0:fontRef idx="minor">
      <a:schemeClr val="tx1"/>
    </ns0:fontRef>
    <ns0:spPr>
      <a:ln w="9525" cap="rnd">
        <a:solidFill>
          <a:schemeClr val="phClr"/>
        </a:solidFill>
        <a:round/>
      </a:ln>
    </ns0:spPr>
  </ns0:dataPointWireframe>
  <ns0:dataTable>
    <ns0:lnRef idx="0"/>
    <ns0:fillRef idx="0"/>
    <ns0:effectRef idx="0"/>
    <ns0:fontRef idx="minor">
      <a:schemeClr val="tx1">
        <a:lumMod val="65000"/>
        <a:lumOff val="35000"/>
      </a:schemeClr>
    </ns0:fontRef>
    <ns0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ns0:spPr>
    <ns0:defRPr sz="1197" kern="1200"/>
  </ns0:dataTable>
  <ns0:downBar>
    <ns0:lnRef idx="0"/>
    <ns0:fillRef idx="0"/>
    <ns0:effectRef idx="0"/>
    <ns0:fontRef idx="minor">
      <a:schemeClr val="tx1"/>
    </ns0:fontRef>
    <ns0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ns0:spPr>
  </ns0:downBar>
  <ns0:dropLine>
    <ns0:lnRef idx="0"/>
    <ns0:fillRef idx="0"/>
    <ns0:effectRef idx="0"/>
    <ns0:fontRef idx="minor">
      <a:schemeClr val="tx1"/>
    </ns0:fontRef>
    <ns0:spPr>
      <a:ln w="9525" cap="flat" cmpd="sng" algn="ctr">
        <a:solidFill>
          <a:schemeClr val="tx1">
            <a:lumMod val="35000"/>
            <a:lumOff val="65000"/>
          </a:schemeClr>
        </a:solidFill>
        <a:round/>
      </a:ln>
    </ns0:spPr>
  </ns0:dropLine>
  <ns0:errorBar>
    <ns0:lnRef idx="0"/>
    <ns0:fillRef idx="0"/>
    <ns0:effectRef idx="0"/>
    <ns0:fontRef idx="minor">
      <a:schemeClr val="tx1"/>
    </ns0:fontRef>
    <ns0:spPr>
      <a:ln w="9525" cap="flat" cmpd="sng" algn="ctr">
        <a:solidFill>
          <a:schemeClr val="tx1">
            <a:lumMod val="65000"/>
            <a:lumOff val="35000"/>
          </a:schemeClr>
        </a:solidFill>
        <a:round/>
      </a:ln>
    </ns0:spPr>
  </ns0:errorBar>
  <ns0:floor>
    <ns0:lnRef idx="0"/>
    <ns0:fillRef idx="0"/>
    <ns0:effectRef idx="0"/>
    <ns0:fontRef idx="minor">
      <a:schemeClr val="tx1"/>
    </ns0:fontRef>
    <ns0:spPr>
      <a:noFill/>
      <a:ln>
        <a:noFill/>
      </a:ln>
    </ns0:spPr>
  </ns0:floor>
  <ns0:gridlineMajor>
    <ns0:lnRef idx="0"/>
    <ns0:fillRef idx="0"/>
    <ns0:effectRef idx="0"/>
    <ns0:fontRef idx="minor">
      <a:schemeClr val="tx1"/>
    </ns0:fontRef>
    <ns0:spPr>
      <a:ln w="9525" cap="flat" cmpd="sng" algn="ctr">
        <a:solidFill>
          <a:schemeClr val="tx1">
            <a:lumMod val="15000"/>
            <a:lumOff val="85000"/>
          </a:schemeClr>
        </a:solidFill>
        <a:round/>
      </a:ln>
    </ns0:spPr>
  </ns0:gridlineMajor>
  <ns0:gridlineMinor>
    <ns0:lnRef idx="0"/>
    <ns0:fillRef idx="0"/>
    <ns0:effectRef idx="0"/>
    <ns0:fontRef idx="minor">
      <a:schemeClr val="tx1"/>
    </ns0:fontRef>
    <ns0:spPr>
      <a:ln w="9525" cap="flat" cmpd="sng" algn="ctr">
        <a:solidFill>
          <a:schemeClr val="tx1">
            <a:lumMod val="5000"/>
            <a:lumOff val="95000"/>
          </a:schemeClr>
        </a:solidFill>
        <a:round/>
      </a:ln>
    </ns0:spPr>
  </ns0:gridlineMinor>
  <ns0:hiLoLine>
    <ns0:lnRef idx="0"/>
    <ns0:fillRef idx="0"/>
    <ns0:effectRef idx="0"/>
    <ns0:fontRef idx="minor">
      <a:schemeClr val="tx1"/>
    </ns0:fontRef>
    <ns0:spPr>
      <a:ln w="9525" cap="flat" cmpd="sng" algn="ctr">
        <a:solidFill>
          <a:schemeClr val="tx1">
            <a:lumMod val="50000"/>
            <a:lumOff val="50000"/>
          </a:schemeClr>
        </a:solidFill>
        <a:round/>
      </a:ln>
    </ns0:spPr>
  </ns0:hiLoLine>
  <ns0:leaderLine>
    <ns0:lnRef idx="0"/>
    <ns0:fillRef idx="0"/>
    <ns0:effectRef idx="0"/>
    <ns0:fontRef idx="minor">
      <a:schemeClr val="tx1"/>
    </ns0:fontRef>
    <ns0:spPr>
      <a:ln w="9525" cap="flat" cmpd="sng" algn="ctr">
        <a:solidFill>
          <a:schemeClr val="tx1">
            <a:lumMod val="35000"/>
            <a:lumOff val="65000"/>
          </a:schemeClr>
        </a:solidFill>
        <a:round/>
      </a:ln>
    </ns0:spPr>
  </ns0:leaderLine>
  <ns0:legend>
    <ns0:lnRef idx="0"/>
    <ns0:fillRef idx="0"/>
    <ns0:effectRef idx="0"/>
    <ns0:fontRef idx="minor">
      <a:schemeClr val="tx1">
        <a:lumMod val="65000"/>
        <a:lumOff val="35000"/>
      </a:schemeClr>
    </ns0:fontRef>
    <ns0:defRPr sz="1197" kern="1200"/>
  </ns0:legend>
  <ns0:plotArea mods="allowNoFillOverride allowNoLineOverride">
    <ns0:lnRef idx="0"/>
    <ns0:fillRef idx="0"/>
    <ns0:effectRef idx="0"/>
    <ns0:fontRef idx="minor">
      <a:schemeClr val="tx1"/>
    </ns0:fontRef>
  </ns0:plotArea>
  <ns0:plotArea3D mods="allowNoFillOverride allowNoLineOverride">
    <ns0:lnRef idx="0"/>
    <ns0:fillRef idx="0"/>
    <ns0:effectRef idx="0"/>
    <ns0:fontRef idx="minor">
      <a:schemeClr val="tx1"/>
    </ns0:fontRef>
  </ns0:plotArea3D>
  <ns0:seriesAxis>
    <ns0:lnRef idx="0"/>
    <ns0:fillRef idx="0"/>
    <ns0:effectRef idx="0"/>
    <ns0:fontRef idx="minor">
      <a:schemeClr val="tx1">
        <a:lumMod val="65000"/>
        <a:lumOff val="35000"/>
      </a:schemeClr>
    </ns0:fontRef>
    <ns0:defRPr sz="1197" kern="1200"/>
  </ns0:seriesAxis>
  <ns0:seriesLine>
    <ns0:lnRef idx="0"/>
    <ns0:fillRef idx="0"/>
    <ns0:effectRef idx="0"/>
    <ns0:fontRef idx="minor">
      <a:schemeClr val="tx1"/>
    </ns0:fontRef>
    <ns0:spPr>
      <a:ln w="9525" cap="flat" cmpd="sng" algn="ctr">
        <a:solidFill>
          <a:schemeClr val="tx1">
            <a:lumMod val="35000"/>
            <a:lumOff val="65000"/>
          </a:schemeClr>
        </a:solidFill>
        <a:round/>
      </a:ln>
    </ns0:spPr>
  </ns0:seriesLine>
  <ns0:title>
    <ns0:lnRef idx="0"/>
    <ns0:fillRef idx="0"/>
    <ns0:effectRef idx="0"/>
    <ns0:fontRef idx="minor">
      <a:schemeClr val="tx1">
        <a:lumMod val="65000"/>
        <a:lumOff val="35000"/>
      </a:schemeClr>
    </ns0:fontRef>
    <ns0:defRPr sz="1862" b="0" kern="1200" spc="0" baseline="0"/>
  </ns0:title>
  <ns0:trendline>
    <ns0:lnRef idx="0">
      <ns0:styleClr val="auto"/>
    </ns0:lnRef>
    <ns0:fillRef idx="0"/>
    <ns0:effectRef idx="0"/>
    <ns0:fontRef idx="minor">
      <a:schemeClr val="tx1"/>
    </ns0:fontRef>
    <ns0:spPr>
      <a:ln w="19050" cap="rnd">
        <a:solidFill>
          <a:schemeClr val="phClr"/>
        </a:solidFill>
        <a:prstDash val="sysDot"/>
      </a:ln>
    </ns0:spPr>
  </ns0:trendline>
  <ns0:trendlineLabel>
    <ns0:lnRef idx="0"/>
    <ns0:fillRef idx="0"/>
    <ns0:effectRef idx="0"/>
    <ns0:fontRef idx="minor">
      <a:schemeClr val="tx1">
        <a:lumMod val="65000"/>
        <a:lumOff val="35000"/>
      </a:schemeClr>
    </ns0:fontRef>
    <ns0:defRPr sz="1197" kern="1200"/>
  </ns0:trendlineLabel>
  <ns0:upBar>
    <ns0:lnRef idx="0"/>
    <ns0:fillRef idx="0"/>
    <ns0:effectRef idx="0"/>
    <ns0:fontRef idx="minor">
      <a:schemeClr val="tx1"/>
    </ns0:fontRef>
    <ns0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ns0:spPr>
  </ns0:upBar>
  <ns0:valueAxis>
    <ns0:lnRef idx="0"/>
    <ns0:fillRef idx="0"/>
    <ns0:effectRef idx="0"/>
    <ns0:fontRef idx="minor">
      <a:schemeClr val="tx1">
        <a:lumMod val="65000"/>
        <a:lumOff val="35000"/>
      </a:schemeClr>
    </ns0:fontRef>
    <ns0:defRPr sz="1197" kern="1200"/>
  </ns0:valueAxis>
  <ns0:wall>
    <ns0:lnRef idx="0"/>
    <ns0:fillRef idx="0"/>
    <ns0:effectRef idx="0"/>
    <ns0:fontRef idx="minor">
      <a:schemeClr val="tx1"/>
    </ns0:fontRef>
    <ns0:spPr>
      <a:noFill/>
      <a:ln>
        <a:noFill/>
      </a:ln>
    </ns0:spPr>
  </ns0:wall>
</ns0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27T16:38:47.657" idx="2">
    <p:pos x="4190" y="1842"/>
    <p:text>можно добавить цветовую индикацию доменов</p:text>
    <p:extLst>
      <p:ext uri="{C676402C-5697-4E1C-873F-D02D1690AC5C}">
        <p15:threadingInfo xmlns:p15="http://schemas.microsoft.com/office/powerpoint/2012/main" timeZoneBias="-180"/>
      </p:ext>
    </p:extLst>
  </p:cm>
  <p:cm authorId="1" dt="2026-05-27T16:56:17.206" idx="3">
    <p:pos x="1819" y="55"/>
    <p:text>Расчитывается как среднее арифметическое по всем 40 навыкам</p:text>
    <p:extLst>
      <p:ext uri="{C676402C-5697-4E1C-873F-D02D1690AC5C}">
        <p15:threadingInfo xmlns:p15="http://schemas.microsoft.com/office/powerpoint/2012/main" timeZoneBias="-180"/>
      </p:ext>
    </p:extLst>
  </p:cm>
  <p:cm authorId="1" dt="2026-05-27T16:56:53.514" idx="4">
    <p:pos x="3079" y="3763"/>
    <p:text>Для каждой группы расчитывается среднее арифметическое по всем навыкам входящим  в группу</p:text>
    <p:extLst>
      <p:ext uri="{C676402C-5697-4E1C-873F-D02D1690AC5C}">
        <p15:threadingInfo xmlns:p15="http://schemas.microsoft.com/office/powerpoint/2012/main" timeZoneBias="-180"/>
      </p:ext>
    </p:extLst>
  </p:cm>
  <p:cm authorId="1" dt="2026-05-27T16:57:47.531" idx="5">
    <p:pos x="2908" y="343"/>
    <p:text>фиксированное значение. равно 1,35</p:text>
    <p:extLst>
      <p:ext uri="{C676402C-5697-4E1C-873F-D02D1690AC5C}">
        <p15:threadingInfo xmlns:p15="http://schemas.microsoft.com/office/powerpoint/2012/main" timeZoneBias="-180"/>
      </p:ext>
    </p:extLst>
  </p:cm>
  <p:cm authorId="1" dt="2026-05-27T16:58:20.822" idx="6">
    <p:pos x="3277" y="901"/>
    <p:text>показывает результат пользователя на шкале от 0 до 3</p:text>
    <p:extLst>
      <p:ext uri="{C676402C-5697-4E1C-873F-D02D1690AC5C}">
        <p15:threadingInfo xmlns:p15="http://schemas.microsoft.com/office/powerpoint/2012/main" timeZoneBias="-180"/>
      </p:ext>
    </p:extLst>
  </p:cm>
  <p:cm authorId="1" dt="2026-05-27T16:58:43.256" idx="7">
    <p:pos x="3902" y="5747"/>
    <p:text>активная ссылка на исследование</p:text>
    <p:extLst>
      <p:ext uri="{C676402C-5697-4E1C-873F-D02D1690AC5C}">
        <p15:threadingInfo xmlns:p15="http://schemas.microsoft.com/office/powerpoint/2012/main" timeZoneBias="-180"/>
      </p:ext>
    </p:extLst>
  </p:cm>
  <p:cm authorId="1" dt="2026-05-27T16:58:59.088" idx="8">
    <p:pos x="3403" y="4654"/>
    <p:text>Выводится топ-5 по рейтингу на основе формулы</p:text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5748B-90C7-4A16-A0DB-517670027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1147B8-BB96-4DDC-9203-12B17FC4D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33D887-D9A6-4162-9F01-5A570C1E1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8288B2-B775-4CF7-90D5-75E3EEC96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23AD76-EF39-4631-9737-872F72022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485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07733E-9CFD-4BEA-9944-BBD20BEDA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DF50A3-F385-46D3-A64C-74F0620DD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9F77D4-5200-4DFB-ACA4-AB0AABE6A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509D98-6985-4C48-8872-CD710365E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2D3EC7-D723-430C-AD41-90EC694A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50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DA6E3F-1E52-446F-A4CC-E19422B81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1A0218-0FFC-4425-8B21-4EAF69CE6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CF37EF-1A1E-4A2D-B438-75F94CED0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2B9D1A-DD38-44FE-955F-26C00D66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A0567A-C5BF-4393-8641-551D10E8D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FF732E-53C9-4416-84C4-27FCC32E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055887-F728-4159-A930-308D8B95E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E28FB6-73B0-4634-B205-875D54570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5EC012-5A62-4CAF-BDDE-A839215B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073F9C-78A9-4EAF-B80F-EF1C948C0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8AA5D-CC08-42D7-A09D-A9A85C40A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90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ABBF0-41C8-475C-954F-1E73DA994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B7966F-3953-4B0E-A22F-AC9028695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D67770-B604-4F74-8741-22E2D08FB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C7067F-BCC7-43A8-BD19-5784DE308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FB82011-AA1A-4DB3-8ED1-890F665FF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4EB6F7-9608-499B-A859-B6A16326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8815C12-D8FE-4EC7-B790-2B156E92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41E5CD-0299-4A9B-9474-54EC9494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232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0170D-7E80-4C7F-BA19-0AD784137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10E2002-9C5E-47EF-AEA9-C8516152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49724A-400D-444D-B3BB-FB70325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EC744A-92C9-4C44-9431-34F1FBD0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837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701F25-B01C-4E9E-81C6-A4059C01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A04EB0E-7E0E-47E6-95B1-52789F136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84ECBC-97B4-4450-B6C9-A23D4F6B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069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197FC-1BBE-4B7C-A447-13BF1E913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448213-3294-4333-9CBC-1733FD337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7EEC2D-12A3-41E9-99CD-D8D4E5CA0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9C8680-6513-4F46-85FC-CE91B448E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D1B190-D04C-4071-8CEC-A3FF3E40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444659-6DA4-458D-B1F0-0346596B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957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64B0B-792F-4931-9EC4-8709D322B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9D1A365-CFAE-4E93-9384-FE20C2980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17CE59-495E-4BA4-9FF0-0A74DD206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53A6C2-06B0-42BA-93BB-71F2DBDBE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91AD39-BDDC-4E1E-B534-5B46FF992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1860F3-C055-485E-A55F-8A9170CE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775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919F7B-2ADB-4CA0-B3B6-6404C5157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F54248A-291F-43C8-9251-217F5F6F5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D4D447-186F-49C3-BF22-01086C9D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965662-33D9-4962-84EE-60767370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E55C65-A4F4-40BA-A425-A2CFABEC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349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D5A09A6-BC2B-4075-A851-0DB67786A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CB5772-46AB-4A47-8FDC-4A36663B8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16ED67-F055-43C4-80C6-3E0A7753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B3BCC3-C6DC-4B52-A610-BF03540D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9D1AB2-FB1A-4B03-A21D-F726BAD5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0145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DD85C-0C36-43C4-B0ED-10E0A304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F6032E-BD38-4086-808C-5EBB5EFE2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3A764F-D4D9-44B9-8A60-2C91D722E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69416-9AE8-4D46-B4CD-B3DA905EFBAA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DC5D2A-EF02-44F9-9E8D-72129B33A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B5FFCA-35BB-4F1D-9B3F-1DB39BFDD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17A92-DF68-41E0-BE00-174DB8C513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49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omments" Target="../comments/comment1.xml"/><Relationship Id="rId5" Type="http://schemas.openxmlformats.org/officeDocument/2006/relationships/hyperlink" Target="https://yandex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5414D60-092E-4826-B099-6495766C7B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34" b="26727"/>
          <a:stretch/>
        </p:blipFill>
        <p:spPr>
          <a:xfrm rot="19855818">
            <a:off x="2774814" y="664942"/>
            <a:ext cx="4293093" cy="2238032"/>
          </a:xfrm>
          <a:prstGeom prst="rect">
            <a:avLst/>
          </a:prstGeom>
        </p:spPr>
      </p:pic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7E60AE1E-8703-4E16-B3B7-2B5F04C027B1}"/>
              </a:ext>
            </a:extLst>
          </p:cNvPr>
          <p:cNvSpPr/>
          <p:nvPr/>
        </p:nvSpPr>
        <p:spPr>
          <a:xfrm>
            <a:off x="340724" y="7188929"/>
            <a:ext cx="6025799" cy="19237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81FD7F3-4033-4102-AEC0-6F621CDAC5CB}"/>
              </a:ext>
            </a:extLst>
          </p:cNvPr>
          <p:cNvSpPr/>
          <p:nvPr/>
        </p:nvSpPr>
        <p:spPr>
          <a:xfrm>
            <a:off x="357188" y="2595146"/>
            <a:ext cx="6009336" cy="42914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FD6B6243-CB80-462B-A4E0-FFF7F5DE6232}"/>
              </a:ext>
            </a:extLst>
          </p:cNvPr>
          <p:cNvSpPr txBox="1">
            <a:spLocks/>
          </p:cNvSpPr>
          <p:nvPr/>
        </p:nvSpPr>
        <p:spPr>
          <a:xfrm>
            <a:off x="340724" y="664406"/>
            <a:ext cx="1810493" cy="774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320759" rtl="0" eaLnBrk="1" latinLnBrk="0" hangingPunct="1">
              <a:lnSpc>
                <a:spcPct val="90000"/>
              </a:lnSpc>
              <a:spcBef>
                <a:spcPts val="1444"/>
              </a:spcBef>
              <a:buFont typeface="Arial" panose="020B0604020202020204" pitchFamily="34" charset="0"/>
              <a:buNone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0380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075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113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4151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0189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7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265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83037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/>
              <a:t>Ваш итоговый результат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EE3812-7844-4C26-BBF3-6ED69E0601E4}"/>
              </a:ext>
            </a:extLst>
          </p:cNvPr>
          <p:cNvSpPr txBox="1">
            <a:spLocks/>
          </p:cNvSpPr>
          <p:nvPr/>
        </p:nvSpPr>
        <p:spPr>
          <a:xfrm>
            <a:off x="475932" y="9241594"/>
            <a:ext cx="5890591" cy="52728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132075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66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dirty="0"/>
              <a:t>*Весной 2026 года мы провели исследование среди руководителей российских компаний, чтобы оценить их восприятие уровня владения управленческими навыками, их текущей и будущей востребованности. </a:t>
            </a:r>
            <a:r>
              <a:rPr sz="1800" u="sng">
                <a:solidFill>
                  <a:srgbClr val="0563C1"/>
                </a:solidFill>
                <a:hlinkClick r:id="rId5"/>
              </a:rPr>
              <a:t>Ссылка на исследование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C99F47CB-028B-4FCB-8832-87B5C3FD38B7}"/>
              </a:ext>
            </a:extLst>
          </p:cNvPr>
          <p:cNvSpPr txBox="1">
            <a:spLocks/>
          </p:cNvSpPr>
          <p:nvPr/>
        </p:nvSpPr>
        <p:spPr>
          <a:xfrm>
            <a:off x="681689" y="2595146"/>
            <a:ext cx="4900612" cy="774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320759" rtl="0" eaLnBrk="1" latinLnBrk="0" hangingPunct="1">
              <a:lnSpc>
                <a:spcPct val="90000"/>
              </a:lnSpc>
              <a:spcBef>
                <a:spcPts val="1444"/>
              </a:spcBef>
              <a:buFont typeface="Arial" panose="020B0604020202020204" pitchFamily="34" charset="0"/>
              <a:buNone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0380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075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113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4151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0189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7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265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83037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/>
              <a:t>Ваш профиль навыков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4E5C4A38-3506-44E4-8C8A-2DD02DFAF6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3268117"/>
              </p:ext>
            </p:extLst>
          </p:nvPr>
        </p:nvGraphicFramePr>
        <p:xfrm>
          <a:off x="1110316" y="3195431"/>
          <a:ext cx="4572000" cy="3481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57662555-3E64-4686-82DC-9EE93151C370}"/>
              </a:ext>
            </a:extLst>
          </p:cNvPr>
          <p:cNvSpPr txBox="1">
            <a:spLocks/>
          </p:cNvSpPr>
          <p:nvPr/>
        </p:nvSpPr>
        <p:spPr>
          <a:xfrm>
            <a:off x="2099627" y="449036"/>
            <a:ext cx="1881411" cy="1111337"/>
          </a:xfrm>
          <a:prstGeom prst="rect">
            <a:avLst/>
          </a:prstGeom>
        </p:spPr>
        <p:txBody>
          <a:bodyPr vert="horz" lIns="91440" tIns="45720" rIns="91440" bIns="45720" rtlCol="0" wrap="none">
            <a:noAutofit/>
          </a:bodyPr>
          <a:lstStyle>
            <a:lvl1pPr marL="0" indent="0" algn="ctr" defTabSz="1320759" rtl="0" eaLnBrk="1" latinLnBrk="0" hangingPunct="1">
              <a:lnSpc>
                <a:spcPct val="90000"/>
              </a:lnSpc>
              <a:spcBef>
                <a:spcPts val="1444"/>
              </a:spcBef>
              <a:buFont typeface="Arial" panose="020B0604020202020204" pitchFamily="34" charset="0"/>
              <a:buNone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0380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075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113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4151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0189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7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265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83037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5800" b="1" dirty="0">
                <a:solidFill>
                  <a:srgbClr val="0070C0"/>
                </a:solidFill>
                <a:latin typeface="Montserrat" panose="00000800000000000000" pitchFamily="2" charset="-52"/>
              </a:rPr>
              <a:t>1,73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542D9D7D-0F25-4209-A3C5-C9F7FB32531F}"/>
              </a:ext>
            </a:extLst>
          </p:cNvPr>
          <p:cNvSpPr txBox="1">
            <a:spLocks/>
          </p:cNvSpPr>
          <p:nvPr/>
        </p:nvSpPr>
        <p:spPr>
          <a:xfrm>
            <a:off x="4073599" y="3231220"/>
            <a:ext cx="2852737" cy="173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1320759" rtl="0" eaLnBrk="1" latinLnBrk="0" hangingPunct="1">
              <a:lnSpc>
                <a:spcPct val="90000"/>
              </a:lnSpc>
              <a:spcBef>
                <a:spcPts val="1444"/>
              </a:spcBef>
              <a:buFont typeface="Arial" panose="020B0604020202020204" pitchFamily="34" charset="0"/>
              <a:buNone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0380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075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113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4151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0189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7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265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83037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ru-RU" sz="800" dirty="0">
              <a:solidFill>
                <a:srgbClr val="00B0F0"/>
              </a:solidFill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F8836DE-FD92-41B0-8785-A5375E900BE0}"/>
              </a:ext>
            </a:extLst>
          </p:cNvPr>
          <p:cNvSpPr/>
          <p:nvPr/>
        </p:nvSpPr>
        <p:spPr>
          <a:xfrm>
            <a:off x="685795" y="7275128"/>
            <a:ext cx="5342471" cy="1731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Какие навыки развивать в первую очередь?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050" dirty="0"/>
              <a:t>Понятная презентация идей, планов и результатов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050" dirty="0"/>
              <a:t>Эффективный контроль исполнения задач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050" dirty="0"/>
              <a:t>Использование ИИ-инструментов в управлении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050" dirty="0"/>
              <a:t>Наставничество и рекомендации по развитию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050" dirty="0"/>
              <a:t>Принятие решений в условиях неопределенности</a:t>
            </a:r>
            <a:endParaRPr lang="ru-RU" sz="900" dirty="0"/>
          </a:p>
          <a:p>
            <a:pPr marL="342900" indent="-342900">
              <a:buFont typeface="+mj-lt"/>
              <a:buAutoNum type="arabicPeriod"/>
            </a:pPr>
            <a:r>
              <a:t/>
            </a:r>
            <a:endParaRPr lang="ru-RU" sz="900" dirty="0"/>
          </a:p>
          <a:p>
            <a:pPr marL="342900" indent="-342900">
              <a:buFont typeface="+mj-lt"/>
              <a:buAutoNum type="arabicPeriod"/>
            </a:pPr>
            <a:r>
              <a:t/>
            </a:r>
            <a:endParaRPr lang="ru-RU" sz="900" dirty="0"/>
          </a:p>
          <a:p>
            <a:r>
              <a:rPr lang="ru-RU" sz="900" dirty="0"/>
              <a:t>Рассчитано на основе ваших личных показателей и средних значений текущей и ожидаемой востребованности навыка. Подробности можно узнать в нашем </a:t>
            </a:r>
            <a:r>
              <a:rPr sz="900" u="sng">
                <a:solidFill>
                  <a:srgbClr val="0563C1"/>
                </a:solidFill>
                <a:hlinkClick r:id="rId5"/>
              </a:rPr>
              <a:t>исследовании</a:t>
            </a:r>
            <a:r>
              <a:t>.</a:t>
            </a:r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355EE825-D5D8-433D-8683-5A811B5A3A8E}"/>
              </a:ext>
            </a:extLst>
          </p:cNvPr>
          <p:cNvCxnSpPr>
            <a:cxnSpLocks/>
          </p:cNvCxnSpPr>
          <p:nvPr/>
        </p:nvCxnSpPr>
        <p:spPr>
          <a:xfrm>
            <a:off x="340724" y="2400300"/>
            <a:ext cx="60257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4D50CA53-73AD-459F-8754-2A09097DCC9F}"/>
              </a:ext>
            </a:extLst>
          </p:cNvPr>
          <p:cNvSpPr/>
          <p:nvPr/>
        </p:nvSpPr>
        <p:spPr>
          <a:xfrm rot="810000">
            <a:off x="5110386" y="1464292"/>
            <a:ext cx="256658" cy="724485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75A74CF4-5E03-406A-9D17-6B0ABE57088D}"/>
              </a:ext>
            </a:extLst>
          </p:cNvPr>
          <p:cNvSpPr txBox="1">
            <a:spLocks/>
          </p:cNvSpPr>
          <p:nvPr/>
        </p:nvSpPr>
        <p:spPr>
          <a:xfrm>
            <a:off x="3233446" y="1937886"/>
            <a:ext cx="325739" cy="387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320759" rtl="0" eaLnBrk="1" latinLnBrk="0" hangingPunct="1">
              <a:lnSpc>
                <a:spcPct val="90000"/>
              </a:lnSpc>
              <a:spcBef>
                <a:spcPts val="1444"/>
              </a:spcBef>
              <a:buFont typeface="Arial" panose="020B0604020202020204" pitchFamily="34" charset="0"/>
              <a:buNone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0380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075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113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4151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0189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7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265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83037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/>
              <a:t>0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E897BFD9-9BB1-44B7-8947-002E77CCA7E1}"/>
              </a:ext>
            </a:extLst>
          </p:cNvPr>
          <p:cNvSpPr txBox="1">
            <a:spLocks/>
          </p:cNvSpPr>
          <p:nvPr/>
        </p:nvSpPr>
        <p:spPr>
          <a:xfrm>
            <a:off x="6438145" y="1945937"/>
            <a:ext cx="325739" cy="387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320759" rtl="0" eaLnBrk="1" latinLnBrk="0" hangingPunct="1">
              <a:lnSpc>
                <a:spcPct val="90000"/>
              </a:lnSpc>
              <a:spcBef>
                <a:spcPts val="1444"/>
              </a:spcBef>
              <a:buFont typeface="Arial" panose="020B0604020202020204" pitchFamily="34" charset="0"/>
              <a:buNone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0380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075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113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4151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0189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7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265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83037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/>
              <a:t>3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5DBB899B-B689-4799-BCA0-2B2D07A1A661}"/>
              </a:ext>
            </a:extLst>
          </p:cNvPr>
          <p:cNvCxnSpPr>
            <a:cxnSpLocks/>
          </p:cNvCxnSpPr>
          <p:nvPr/>
        </p:nvCxnSpPr>
        <p:spPr>
          <a:xfrm>
            <a:off x="4600086" y="829733"/>
            <a:ext cx="242847" cy="654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Облачко с текстом: прямоугольное 41">
            <a:extLst>
              <a:ext uri="{FF2B5EF4-FFF2-40B4-BE49-F238E27FC236}">
                <a16:creationId xmlns:a16="http://schemas.microsoft.com/office/drawing/2014/main" id="{46B18662-1201-4708-A412-43E816308031}"/>
              </a:ext>
            </a:extLst>
          </p:cNvPr>
          <p:cNvSpPr/>
          <p:nvPr/>
        </p:nvSpPr>
        <p:spPr>
          <a:xfrm>
            <a:off x="4404929" y="418621"/>
            <a:ext cx="1549400" cy="247565"/>
          </a:xfrm>
          <a:prstGeom prst="wedgeRectCallout">
            <a:avLst>
              <a:gd name="adj1" fmla="val -35660"/>
              <a:gd name="adj2" fmla="val 87295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Среднее значение по результатам исследования*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3" name="Подзаголовок 2">
            <a:extLst>
              <a:ext uri="{FF2B5EF4-FFF2-40B4-BE49-F238E27FC236}">
                <a16:creationId xmlns:a16="http://schemas.microsoft.com/office/drawing/2014/main" id="{7DAEED71-D0EF-4029-B6E6-1B2A82944C65}"/>
              </a:ext>
            </a:extLst>
          </p:cNvPr>
          <p:cNvSpPr txBox="1">
            <a:spLocks/>
          </p:cNvSpPr>
          <p:nvPr/>
        </p:nvSpPr>
        <p:spPr>
          <a:xfrm>
            <a:off x="940188" y="1403078"/>
            <a:ext cx="2517929" cy="774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320759" rtl="0" eaLnBrk="1" latinLnBrk="0" hangingPunct="1">
              <a:lnSpc>
                <a:spcPct val="90000"/>
              </a:lnSpc>
              <a:spcBef>
                <a:spcPts val="1444"/>
              </a:spcBef>
              <a:buFont typeface="Arial" panose="020B0604020202020204" pitchFamily="34" charset="0"/>
              <a:buNone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0380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2075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113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41519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0189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7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2658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83037" indent="0" algn="ctr" defTabSz="1320759" rtl="0" eaLnBrk="1" latinLnBrk="0" hangingPunct="1">
              <a:lnSpc>
                <a:spcPct val="90000"/>
              </a:lnSpc>
              <a:spcBef>
                <a:spcPts val="722"/>
              </a:spcBef>
              <a:buFont typeface="Arial" panose="020B0604020202020204" pitchFamily="34" charset="0"/>
              <a:buNone/>
              <a:defRPr sz="23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800" dirty="0"/>
              <a:t>Среднее по всем навыкам</a:t>
            </a:r>
          </a:p>
        </p:txBody>
      </p:sp>
    </p:spTree>
    <p:extLst>
      <p:ext uri="{BB962C8B-B14F-4D97-AF65-F5344CB8AC3E}">
        <p14:creationId xmlns:p14="http://schemas.microsoft.com/office/powerpoint/2010/main" val="7364678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106</Words>
  <Application>Microsoft Office PowerPoint</Application>
  <PresentationFormat>Лист A4 (210x297 мм)</PresentationFormat>
  <Paragraphs>17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Паутинка по доменам - среднее по опросу  -среднее индивидуальное</dc:title>
  <dc:creator>Тарасова Елена Игоревна</dc:creator>
  <cp:lastModifiedBy>Тарасова Елена Игоревна</cp:lastModifiedBy>
  <cp:revision>15</cp:revision>
  <dcterms:created xsi:type="dcterms:W3CDTF">2026-05-27T11:39:33Z</dcterms:created>
  <dcterms:modified xsi:type="dcterms:W3CDTF">2026-05-27T14:01:43Z</dcterms:modified>
</cp:coreProperties>
</file>